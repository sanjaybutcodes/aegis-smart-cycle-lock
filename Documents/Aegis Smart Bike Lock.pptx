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Norms Bold" charset="1" panose="02000803030000020004"/>
      <p:regular r:id="rId14"/>
    </p:embeddedFont>
    <p:embeddedFont>
      <p:font typeface="TT Norms" charset="1" panose="020005030300000200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8574" y="852695"/>
            <a:ext cx="13289426" cy="9434305"/>
          </a:xfrm>
          <a:custGeom>
            <a:avLst/>
            <a:gdLst/>
            <a:ahLst/>
            <a:cxnLst/>
            <a:rect r="r" b="b" t="t" l="l"/>
            <a:pathLst>
              <a:path h="9434305" w="13289426">
                <a:moveTo>
                  <a:pt x="0" y="0"/>
                </a:moveTo>
                <a:lnTo>
                  <a:pt x="13289426" y="0"/>
                </a:lnTo>
                <a:lnTo>
                  <a:pt x="13289426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6425" y="1485843"/>
            <a:ext cx="3366913" cy="128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7"/>
              </a:lnSpc>
            </a:pPr>
            <a:r>
              <a:rPr lang="en-US" sz="9707" spc="-194" b="true">
                <a:solidFill>
                  <a:srgbClr val="F0E9E1"/>
                </a:solidFill>
                <a:latin typeface="TT Norms Bold"/>
                <a:ea typeface="TT Norms Bold"/>
                <a:cs typeface="TT Norms Bold"/>
                <a:sym typeface="TT Norms Bold"/>
              </a:rPr>
              <a:t>Aegis: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1969" y="2813218"/>
            <a:ext cx="4812434" cy="96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2"/>
              </a:lnSpc>
            </a:pPr>
            <a:r>
              <a:rPr lang="en-US" sz="7372" spc="-147" b="true">
                <a:solidFill>
                  <a:srgbClr val="F0E9E1"/>
                </a:solidFill>
                <a:latin typeface="TT Norms Bold"/>
                <a:ea typeface="TT Norms Bold"/>
                <a:cs typeface="TT Norms Bold"/>
                <a:sym typeface="TT Norms Bold"/>
              </a:rPr>
              <a:t>Distributed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3507" y="3792186"/>
            <a:ext cx="7658708" cy="939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9"/>
              </a:lnSpc>
            </a:pPr>
            <a:r>
              <a:rPr lang="en-US" sz="7119" spc="-142" b="true">
                <a:solidFill>
                  <a:srgbClr val="F0E9E1"/>
                </a:solidFill>
                <a:latin typeface="TT Norms Bold"/>
                <a:ea typeface="TT Norms Bold"/>
                <a:cs typeface="TT Norms Bold"/>
                <a:sym typeface="TT Norms Bold"/>
              </a:rPr>
              <a:t>Smart Bicycle Lock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4919394"/>
            <a:ext cx="1542230" cy="229572"/>
          </a:xfrm>
          <a:custGeom>
            <a:avLst/>
            <a:gdLst/>
            <a:ahLst/>
            <a:cxnLst/>
            <a:rect r="r" b="b" t="t" l="l"/>
            <a:pathLst>
              <a:path h="229572" w="1542230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4831" y="5590304"/>
            <a:ext cx="6205197" cy="92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>
                <a:solidFill>
                  <a:srgbClr val="F0E9E1"/>
                </a:solidFill>
                <a:latin typeface="TT Norms"/>
                <a:ea typeface="TT Norms"/>
                <a:cs typeface="TT Norms"/>
                <a:sym typeface="TT Norms"/>
              </a:rPr>
              <a:t>Heavy-duty, open-source security with splitnode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5330" y="8345088"/>
            <a:ext cx="2752119" cy="38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909" spc="-58" b="true">
                <a:solidFill>
                  <a:srgbClr val="E8764B"/>
                </a:solidFill>
                <a:latin typeface="TT Norms Bold"/>
                <a:ea typeface="TT Norms Bold"/>
                <a:cs typeface="TT Norms Bold"/>
                <a:sym typeface="TT Norms Bold"/>
              </a:rPr>
              <a:t>Team Aegis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5962" y="8843446"/>
            <a:ext cx="2092062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>
                <a:solidFill>
                  <a:srgbClr val="F0E9E1"/>
                </a:solidFill>
                <a:latin typeface="TT Norms"/>
                <a:ea typeface="TT Norms"/>
                <a:cs typeface="TT Norms"/>
                <a:sym typeface="TT Norms"/>
              </a:rPr>
              <a:t>2026-10-23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0"/>
            <a:ext cx="8936182" cy="10287000"/>
          </a:xfrm>
          <a:custGeom>
            <a:avLst/>
            <a:gdLst/>
            <a:ahLst/>
            <a:cxnLst/>
            <a:rect r="r" b="b" t="t" l="l"/>
            <a:pathLst>
              <a:path h="10287000" w="8936182">
                <a:moveTo>
                  <a:pt x="0" y="0"/>
                </a:moveTo>
                <a:lnTo>
                  <a:pt x="8936182" y="0"/>
                </a:lnTo>
                <a:lnTo>
                  <a:pt x="8936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4080" y="1649059"/>
            <a:ext cx="8748241" cy="136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9"/>
              </a:lnSpc>
            </a:pPr>
            <a:r>
              <a:rPr lang="en-US" sz="10369" spc="-308" b="true">
                <a:solidFill>
                  <a:srgbClr val="F8F4EB"/>
                </a:solidFill>
                <a:latin typeface="TT Norms Bold"/>
                <a:ea typeface="TT Norms Bold"/>
                <a:cs typeface="TT Norms Bold"/>
                <a:sym typeface="TT Norms Bold"/>
              </a:rPr>
              <a:t>What is Aegis?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82842" y="2995365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4522" y="4069159"/>
            <a:ext cx="4740782" cy="96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spc="-31">
                <a:solidFill>
                  <a:srgbClr val="F8F4EB"/>
                </a:solidFill>
                <a:latin typeface="TT Norms"/>
                <a:ea typeface="TT Norms"/>
                <a:cs typeface="TT Norms"/>
                <a:sym typeface="TT Norms"/>
              </a:rPr>
              <a:t>Heavy-duty, open-source </a:t>
            </a:r>
            <a:r>
              <a:rPr lang="en-US" sz="3234" spc="-31">
                <a:solidFill>
                  <a:srgbClr val="E87651"/>
                </a:solidFill>
                <a:latin typeface="TT Norms"/>
                <a:ea typeface="TT Norms"/>
                <a:cs typeface="TT Norms"/>
                <a:sym typeface="TT Norms"/>
              </a:rPr>
              <a:t>smart lock</a:t>
            </a:r>
            <a:r>
              <a:rPr lang="en-US" sz="3234" spc="-31">
                <a:solidFill>
                  <a:srgbClr val="F8F4EB"/>
                </a:solidFill>
                <a:latin typeface="TT Norms"/>
                <a:ea typeface="TT Norms"/>
                <a:cs typeface="TT Norms"/>
                <a:sym typeface="TT Norms"/>
              </a:rPr>
              <a:t> for bicycles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0118" y="5364392"/>
            <a:ext cx="5181126" cy="96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spc="-31">
                <a:solidFill>
                  <a:srgbClr val="E87651"/>
                </a:solidFill>
                <a:latin typeface="TT Norms"/>
                <a:ea typeface="TT Norms"/>
                <a:cs typeface="TT Norms"/>
                <a:sym typeface="TT Norms"/>
              </a:rPr>
              <a:t>Splitnode architecture</a:t>
            </a:r>
            <a:r>
              <a:rPr lang="en-US" sz="3234" spc="-31">
                <a:solidFill>
                  <a:srgbClr val="F8F4EB"/>
                </a:solidFill>
                <a:latin typeface="TT Norms"/>
                <a:ea typeface="TT Norms"/>
                <a:cs typeface="TT Norms"/>
                <a:sym typeface="TT Norms"/>
              </a:rPr>
              <a:t> separates interface and lock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7771" y="6674685"/>
            <a:ext cx="4415868" cy="96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spc="-31">
                <a:solidFill>
                  <a:srgbClr val="F8F4EB"/>
                </a:solidFill>
                <a:latin typeface="TT Norms"/>
                <a:ea typeface="TT Norms"/>
                <a:cs typeface="TT Norms"/>
                <a:sym typeface="TT Norms"/>
              </a:rPr>
              <a:t>Built to resist tampering</a:t>
            </a:r>
          </a:p>
          <a:p>
            <a:pPr algn="l">
              <a:lnSpc>
                <a:spcPts val="3881"/>
              </a:lnSpc>
            </a:pPr>
            <a:r>
              <a:rPr lang="en-US" sz="3234" spc="-31">
                <a:solidFill>
                  <a:srgbClr val="F8F4EB"/>
                </a:solidFill>
                <a:latin typeface="TT Norms"/>
                <a:ea typeface="TT Norms"/>
                <a:cs typeface="TT Norms"/>
                <a:sym typeface="TT Norms"/>
              </a:rPr>
              <a:t>and brute-force attacks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5859" y="7984978"/>
            <a:ext cx="4607109" cy="96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spc="-31">
                <a:solidFill>
                  <a:srgbClr val="F8F4EB"/>
                </a:solidFill>
                <a:latin typeface="TT Norms"/>
                <a:ea typeface="TT Norms"/>
                <a:cs typeface="TT Norms"/>
                <a:sym typeface="TT Norms"/>
              </a:rPr>
              <a:t>Engineered for durability</a:t>
            </a:r>
          </a:p>
          <a:p>
            <a:pPr algn="l">
              <a:lnSpc>
                <a:spcPts val="3881"/>
              </a:lnSpc>
            </a:pPr>
            <a:r>
              <a:rPr lang="en-US" sz="3234" spc="-31">
                <a:solidFill>
                  <a:srgbClr val="F8F4EB"/>
                </a:solidFill>
                <a:latin typeface="TT Norms"/>
                <a:ea typeface="TT Norms"/>
                <a:cs typeface="TT Norms"/>
                <a:sym typeface="TT Norms"/>
              </a:rPr>
              <a:t>in </a:t>
            </a:r>
            <a:r>
              <a:rPr lang="en-US" sz="3234" spc="-31">
                <a:solidFill>
                  <a:srgbClr val="E87651"/>
                </a:solidFill>
                <a:latin typeface="TT Norms"/>
                <a:ea typeface="TT Norms"/>
                <a:cs typeface="TT Norms"/>
                <a:sym typeface="TT Norms"/>
              </a:rPr>
              <a:t>real-world</a:t>
            </a:r>
            <a:r>
              <a:rPr lang="en-US" sz="3234" spc="-31">
                <a:solidFill>
                  <a:srgbClr val="F8F4EB"/>
                </a:solidFill>
                <a:latin typeface="TT Norms"/>
                <a:ea typeface="TT Norms"/>
                <a:cs typeface="TT Norms"/>
                <a:sym typeface="TT Norms"/>
              </a:rPr>
              <a:t> conditions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0220" y="0"/>
            <a:ext cx="10237780" cy="10287000"/>
          </a:xfrm>
          <a:custGeom>
            <a:avLst/>
            <a:gdLst/>
            <a:ahLst/>
            <a:cxnLst/>
            <a:rect r="r" b="b" t="t" l="l"/>
            <a:pathLst>
              <a:path h="10287000" w="10237780">
                <a:moveTo>
                  <a:pt x="0" y="0"/>
                </a:moveTo>
                <a:lnTo>
                  <a:pt x="10237780" y="0"/>
                </a:lnTo>
                <a:lnTo>
                  <a:pt x="10237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330" y="653583"/>
            <a:ext cx="8402932" cy="971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1"/>
              </a:lnSpc>
            </a:pPr>
            <a:r>
              <a:rPr lang="en-US" sz="7341" spc="-218" b="true">
                <a:solidFill>
                  <a:srgbClr val="F6F0E9"/>
                </a:solidFill>
                <a:latin typeface="TT Norms Bold"/>
                <a:ea typeface="TT Norms Bold"/>
                <a:cs typeface="TT Norms Bold"/>
                <a:sym typeface="TT Norms Bold"/>
              </a:rPr>
              <a:t>System Architecture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1705390"/>
            <a:ext cx="2406316" cy="448211"/>
          </a:xfrm>
          <a:custGeom>
            <a:avLst/>
            <a:gdLst/>
            <a:ahLst/>
            <a:cxnLst/>
            <a:rect r="r" b="b" t="t" l="l"/>
            <a:pathLst>
              <a:path h="448211" w="2406316">
                <a:moveTo>
                  <a:pt x="0" y="0"/>
                </a:moveTo>
                <a:lnTo>
                  <a:pt x="2406316" y="0"/>
                </a:lnTo>
                <a:lnTo>
                  <a:pt x="240631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3858" y="2472710"/>
            <a:ext cx="2128222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 b="true">
                <a:solidFill>
                  <a:srgbClr val="E16B41"/>
                </a:solidFill>
                <a:latin typeface="TT Norms Bold"/>
                <a:ea typeface="TT Norms Bold"/>
                <a:cs typeface="TT Norms Bold"/>
                <a:sym typeface="TT Norms Bold"/>
              </a:rPr>
              <a:t>Handlebar Hub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7224" y="2984779"/>
            <a:ext cx="1791629" cy="30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C8C5C3"/>
                </a:solidFill>
                <a:latin typeface="TT Norms"/>
                <a:ea typeface="TT Norms"/>
                <a:cs typeface="TT Norms"/>
                <a:sym typeface="TT Norms"/>
              </a:rPr>
              <a:t>User Interface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9207" y="3451665"/>
            <a:ext cx="3593397" cy="6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C8C5C3"/>
                </a:solidFill>
                <a:latin typeface="TT Norms"/>
                <a:ea typeface="TT Norms"/>
                <a:cs typeface="TT Norms"/>
                <a:sym typeface="TT Norms"/>
              </a:rPr>
              <a:t>Arduino Nano with NFC card</a:t>
            </a:r>
          </a:p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C8C5C3"/>
                </a:solidFill>
                <a:latin typeface="TT Norms"/>
                <a:ea typeface="TT Norms"/>
                <a:cs typeface="TT Norms"/>
                <a:sym typeface="TT Norms"/>
              </a:rPr>
              <a:t>reader and push button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127" y="4204707"/>
            <a:ext cx="4501348" cy="30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C8C5C3"/>
                </a:solidFill>
                <a:latin typeface="TT Norms"/>
                <a:ea typeface="TT Norms"/>
                <a:cs typeface="TT Norms"/>
                <a:sym typeface="TT Norms"/>
              </a:rPr>
              <a:t>Mounted on handlebars, IP65 rating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779818" y="2350377"/>
            <a:ext cx="4801694" cy="437279"/>
          </a:xfrm>
          <a:custGeom>
            <a:avLst/>
            <a:gdLst/>
            <a:ahLst/>
            <a:cxnLst/>
            <a:rect r="r" b="b" t="t" l="l"/>
            <a:pathLst>
              <a:path h="437279" w="4801694">
                <a:moveTo>
                  <a:pt x="0" y="0"/>
                </a:moveTo>
                <a:lnTo>
                  <a:pt x="4801694" y="0"/>
                </a:lnTo>
                <a:lnTo>
                  <a:pt x="4801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98820" y="5198723"/>
            <a:ext cx="2632110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 b="true">
                <a:solidFill>
                  <a:srgbClr val="E16B41"/>
                </a:solidFill>
                <a:latin typeface="TT Norms Bold"/>
                <a:ea typeface="TT Norms Bold"/>
                <a:cs typeface="TT Norms Bold"/>
                <a:sym typeface="TT Norms Bold"/>
              </a:rPr>
              <a:t>Armored Rear 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0250" y="5695730"/>
            <a:ext cx="3489090" cy="30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C8C5C3"/>
                </a:solidFill>
                <a:latin typeface="TT Norms"/>
                <a:ea typeface="TT Norms"/>
                <a:cs typeface="TT Norms"/>
                <a:sym typeface="TT Norms"/>
              </a:rPr>
              <a:t>Brain &amp; Locking Mechanism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2878" y="6147555"/>
            <a:ext cx="4226306" cy="6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C8C5C3"/>
                </a:solidFill>
                <a:latin typeface="TT Norms"/>
                <a:ea typeface="TT Norms"/>
                <a:cs typeface="TT Norms"/>
                <a:sym typeface="TT Norms"/>
              </a:rPr>
              <a:t>ESP32 microcontroller controlling 12V worm-gear motor and alarm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8619" y="6915658"/>
            <a:ext cx="4652208" cy="6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C8C5C3"/>
                </a:solidFill>
                <a:latin typeface="TT Norms"/>
                <a:ea typeface="TT Norms"/>
                <a:cs typeface="TT Norms"/>
                <a:sym typeface="TT Norms"/>
              </a:rPr>
              <a:t>Houses battery pack, accelerometer, and siren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436086" y="5138034"/>
            <a:ext cx="5895474" cy="437279"/>
          </a:xfrm>
          <a:custGeom>
            <a:avLst/>
            <a:gdLst/>
            <a:ahLst/>
            <a:cxnLst/>
            <a:rect r="r" b="b" t="t" l="l"/>
            <a:pathLst>
              <a:path h="437279" w="5895474">
                <a:moveTo>
                  <a:pt x="0" y="0"/>
                </a:moveTo>
                <a:lnTo>
                  <a:pt x="5895474" y="0"/>
                </a:lnTo>
                <a:lnTo>
                  <a:pt x="5895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97915" y="8210891"/>
            <a:ext cx="2722540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 b="true">
                <a:solidFill>
                  <a:srgbClr val="E16B41"/>
                </a:solidFill>
                <a:latin typeface="TT Norms Bold"/>
                <a:ea typeface="TT Norms Bold"/>
                <a:cs typeface="TT Norms Bold"/>
                <a:sym typeface="TT Norms Bold"/>
              </a:rPr>
              <a:t>Secure Connection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9264" y="8669018"/>
            <a:ext cx="5587622" cy="7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19">
                <a:solidFill>
                  <a:srgbClr val="C8C5C3"/>
                </a:solidFill>
                <a:latin typeface="TT Norms"/>
                <a:ea typeface="TT Norms"/>
                <a:cs typeface="TT Norms"/>
                <a:sym typeface="TT Norms"/>
              </a:rPr>
              <a:t>Weather-sealed Cat5e cable</a:t>
            </a:r>
          </a:p>
          <a:p>
            <a:pPr algn="l">
              <a:lnSpc>
                <a:spcPts val="2866"/>
              </a:lnSpc>
            </a:pPr>
            <a:r>
              <a:rPr lang="en-US" sz="2047" spc="-19">
                <a:solidFill>
                  <a:srgbClr val="C8C5C3"/>
                </a:solidFill>
                <a:latin typeface="TT Norms"/>
                <a:ea typeface="TT Norms"/>
                <a:cs typeface="TT Norms"/>
                <a:sym typeface="TT Norms"/>
              </a:rPr>
              <a:t>forming a tamper-detecting Dead-Man Loop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436086" y="8133399"/>
            <a:ext cx="5239206" cy="448211"/>
          </a:xfrm>
          <a:custGeom>
            <a:avLst/>
            <a:gdLst/>
            <a:ahLst/>
            <a:cxnLst/>
            <a:rect r="r" b="b" t="t" l="l"/>
            <a:pathLst>
              <a:path h="448211" w="5239206">
                <a:moveTo>
                  <a:pt x="0" y="0"/>
                </a:moveTo>
                <a:lnTo>
                  <a:pt x="5239206" y="0"/>
                </a:lnTo>
                <a:lnTo>
                  <a:pt x="5239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0"/>
            <a:ext cx="8936182" cy="10287000"/>
          </a:xfrm>
          <a:custGeom>
            <a:avLst/>
            <a:gdLst/>
            <a:ahLst/>
            <a:cxnLst/>
            <a:rect r="r" b="b" t="t" l="l"/>
            <a:pathLst>
              <a:path h="10287000" w="8936182">
                <a:moveTo>
                  <a:pt x="0" y="0"/>
                </a:moveTo>
                <a:lnTo>
                  <a:pt x="8936182" y="0"/>
                </a:lnTo>
                <a:lnTo>
                  <a:pt x="8936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4454" y="1095096"/>
            <a:ext cx="8600664" cy="197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spc="-307" b="true">
                <a:solidFill>
                  <a:srgbClr val="F6F0E9"/>
                </a:solidFill>
                <a:latin typeface="TT Norms Bold"/>
                <a:ea typeface="TT Norms Bold"/>
                <a:cs typeface="TT Norms Bold"/>
                <a:sym typeface="TT Norms Bold"/>
              </a:rPr>
              <a:t>Tamper Resistance &amp; Security Features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3214004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1147" y="3947362"/>
            <a:ext cx="5968125" cy="831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032" spc="-29">
                <a:solidFill>
                  <a:srgbClr val="F6F0E9"/>
                </a:solidFill>
                <a:latin typeface="TT Norms"/>
                <a:ea typeface="TT Norms"/>
                <a:cs typeface="TT Norms"/>
                <a:sym typeface="TT Norms"/>
              </a:rPr>
              <a:t>Continuity circuit </a:t>
            </a:r>
            <a:r>
              <a:rPr lang="en-US" sz="3032" spc="-29">
                <a:solidFill>
                  <a:srgbClr val="E7734E"/>
                </a:solidFill>
                <a:latin typeface="TT Norms"/>
                <a:ea typeface="TT Norms"/>
                <a:cs typeface="TT Norms"/>
                <a:sym typeface="TT Norms"/>
              </a:rPr>
              <a:t>detects</a:t>
            </a:r>
            <a:r>
              <a:rPr lang="en-US" sz="3032" spc="-29">
                <a:solidFill>
                  <a:srgbClr val="F6F0E9"/>
                </a:solidFill>
                <a:latin typeface="TT Norms"/>
                <a:ea typeface="TT Norms"/>
                <a:cs typeface="TT Norms"/>
                <a:sym typeface="TT Norms"/>
              </a:rPr>
              <a:t> enclosure breaches instantly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801" y="5033053"/>
            <a:ext cx="6002689" cy="92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spc="-30">
                <a:solidFill>
                  <a:srgbClr val="E7734E"/>
                </a:solidFill>
                <a:latin typeface="TT Norms"/>
                <a:ea typeface="TT Norms"/>
                <a:cs typeface="TT Norms"/>
                <a:sym typeface="TT Norms"/>
              </a:rPr>
              <a:t>110dB alarm</a:t>
            </a:r>
            <a:r>
              <a:rPr lang="en-US" sz="3102" spc="-30">
                <a:solidFill>
                  <a:srgbClr val="F6F0E9"/>
                </a:solidFill>
                <a:latin typeface="TT Norms"/>
                <a:ea typeface="TT Norms"/>
                <a:cs typeface="TT Norms"/>
                <a:sym typeface="TT Norms"/>
              </a:rPr>
              <a:t> triggers on cutting or forced entry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3827" y="6147555"/>
            <a:ext cx="5700103" cy="92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spc="-30">
                <a:solidFill>
                  <a:srgbClr val="F6F0E9"/>
                </a:solidFill>
                <a:latin typeface="TT Norms"/>
                <a:ea typeface="TT Norms"/>
                <a:cs typeface="TT Norms"/>
                <a:sym typeface="TT Norms"/>
              </a:rPr>
              <a:t>Hardened steel </a:t>
            </a:r>
            <a:r>
              <a:rPr lang="en-US" sz="3102" spc="-30">
                <a:solidFill>
                  <a:srgbClr val="E7734E"/>
                </a:solidFill>
                <a:latin typeface="TT Norms"/>
                <a:ea typeface="TT Norms"/>
                <a:cs typeface="TT Norms"/>
                <a:sym typeface="TT Norms"/>
              </a:rPr>
              <a:t>deadbolt</a:t>
            </a:r>
            <a:r>
              <a:rPr lang="en-US" sz="3102" spc="-30">
                <a:solidFill>
                  <a:srgbClr val="F6F0E9"/>
                </a:solidFill>
                <a:latin typeface="TT Norms"/>
                <a:ea typeface="TT Norms"/>
                <a:cs typeface="TT Norms"/>
                <a:sym typeface="TT Norms"/>
              </a:rPr>
              <a:t> secures the rear wheel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2975" y="7292179"/>
            <a:ext cx="5785357" cy="92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spc="-30">
                <a:solidFill>
                  <a:srgbClr val="E7734E"/>
                </a:solidFill>
                <a:latin typeface="TT Norms"/>
                <a:ea typeface="TT Norms"/>
                <a:cs typeface="TT Norms"/>
                <a:sym typeface="TT Norms"/>
              </a:rPr>
              <a:t>Motion sensing</a:t>
            </a:r>
            <a:r>
              <a:rPr lang="en-US" sz="3102" spc="-30">
                <a:solidFill>
                  <a:srgbClr val="F6F0E9"/>
                </a:solidFill>
                <a:latin typeface="TT Norms"/>
                <a:ea typeface="TT Norms"/>
                <a:cs typeface="TT Norms"/>
                <a:sym typeface="TT Norms"/>
              </a:rPr>
              <a:t> wakes the system at the first sign of tampering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8184" y="8469713"/>
            <a:ext cx="5264433" cy="8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6" spc="-29">
                <a:solidFill>
                  <a:srgbClr val="E7734E"/>
                </a:solidFill>
                <a:latin typeface="TT Norms"/>
                <a:ea typeface="TT Norms"/>
                <a:cs typeface="TT Norms"/>
                <a:sym typeface="TT Norms"/>
              </a:rPr>
              <a:t>Split-node design</a:t>
            </a:r>
            <a:r>
              <a:rPr lang="en-US" sz="3036" spc="-29">
                <a:solidFill>
                  <a:srgbClr val="F6F0E9"/>
                </a:solidFill>
                <a:latin typeface="TT Norms"/>
                <a:ea typeface="TT Norms"/>
                <a:cs typeface="TT Norms"/>
                <a:sym typeface="TT Norms"/>
              </a:rPr>
              <a:t> keeps critical components out of reach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5244" y="0"/>
            <a:ext cx="9362756" cy="10287000"/>
          </a:xfrm>
          <a:custGeom>
            <a:avLst/>
            <a:gdLst/>
            <a:ahLst/>
            <a:cxnLst/>
            <a:rect r="r" b="b" t="t" l="l"/>
            <a:pathLst>
              <a:path h="10287000" w="9362756">
                <a:moveTo>
                  <a:pt x="0" y="0"/>
                </a:moveTo>
                <a:lnTo>
                  <a:pt x="9362756" y="0"/>
                </a:lnTo>
                <a:lnTo>
                  <a:pt x="9362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7918" y="748668"/>
            <a:ext cx="8217608" cy="190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spc="-296" b="true">
                <a:solidFill>
                  <a:srgbClr val="F8F4EE"/>
                </a:solidFill>
                <a:latin typeface="TT Norms Bold"/>
                <a:ea typeface="TT Norms Bold"/>
                <a:cs typeface="TT Norms Bold"/>
                <a:sym typeface="TT Norms Bold"/>
              </a:rPr>
              <a:t>Hardware &amp; Mechanical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5630" y="2661396"/>
            <a:ext cx="4446402" cy="97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spc="-296" b="true">
                <a:solidFill>
                  <a:srgbClr val="F4723D"/>
                </a:solidFill>
                <a:latin typeface="TT Norms Bold"/>
                <a:ea typeface="TT Norms Bold"/>
                <a:cs typeface="TT Norms Bold"/>
                <a:sym typeface="TT Norms Bold"/>
              </a:rPr>
              <a:t>Highlights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848060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1739" y="4429416"/>
            <a:ext cx="2872174" cy="3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55">
                <a:solidFill>
                  <a:srgbClr val="F4723D"/>
                </a:solidFill>
                <a:latin typeface="TT Norms"/>
                <a:ea typeface="TT Norms"/>
                <a:cs typeface="TT Norms"/>
                <a:sym typeface="TT Norms"/>
              </a:rPr>
              <a:t>Armored rear 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0599" y="4805937"/>
            <a:ext cx="5986193" cy="3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55">
                <a:solidFill>
                  <a:srgbClr val="F8F4EE"/>
                </a:solidFill>
                <a:latin typeface="TT Norms"/>
                <a:ea typeface="TT Norms"/>
                <a:cs typeface="TT Norms"/>
                <a:sym typeface="TT Norms"/>
              </a:rPr>
              <a:t>with heavy-duty horseshoe frame lock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76" y="5468614"/>
            <a:ext cx="4908450" cy="3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55">
                <a:solidFill>
                  <a:srgbClr val="F4723D"/>
                </a:solidFill>
                <a:latin typeface="TT Norms"/>
                <a:ea typeface="TT Norms"/>
                <a:cs typeface="TT Norms"/>
                <a:sym typeface="TT Norms"/>
              </a:rPr>
              <a:t>JGY370 12V worm gear motor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9437" y="5860196"/>
            <a:ext cx="5102419" cy="3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55">
                <a:solidFill>
                  <a:srgbClr val="F8F4EE"/>
                </a:solidFill>
                <a:latin typeface="TT Norms"/>
                <a:ea typeface="TT Norms"/>
                <a:cs typeface="TT Norms"/>
                <a:sym typeface="TT Norms"/>
              </a:rPr>
              <a:t>driving rack and pinion deadbolt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7349" y="6492751"/>
            <a:ext cx="2311226" cy="3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55">
                <a:solidFill>
                  <a:srgbClr val="F4723D"/>
                </a:solidFill>
                <a:latin typeface="TT Norms"/>
                <a:ea typeface="TT Norms"/>
                <a:cs typeface="TT Norms"/>
                <a:sym typeface="TT Norms"/>
              </a:rPr>
              <a:t>Limit switches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7230" y="6899394"/>
            <a:ext cx="6323083" cy="3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55">
                <a:solidFill>
                  <a:srgbClr val="F8F4EE"/>
                </a:solidFill>
                <a:latin typeface="TT Norms"/>
                <a:ea typeface="TT Norms"/>
                <a:cs typeface="TT Norms"/>
                <a:sym typeface="TT Norms"/>
              </a:rPr>
              <a:t>prevent motor overrun and gear damage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9015" y="7531949"/>
            <a:ext cx="4144622" cy="3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55">
                <a:solidFill>
                  <a:srgbClr val="F4723D"/>
                </a:solidFill>
                <a:latin typeface="TT Norms"/>
                <a:ea typeface="TT Norms"/>
                <a:cs typeface="TT Norms"/>
                <a:sym typeface="TT Norms"/>
              </a:rPr>
              <a:t>Weatherproof enclosures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0117" y="7913863"/>
            <a:ext cx="6034344" cy="72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654" spc="-53">
                <a:solidFill>
                  <a:srgbClr val="F8F4EE"/>
                </a:solidFill>
                <a:latin typeface="TT Norms"/>
                <a:ea typeface="TT Norms"/>
                <a:cs typeface="TT Norms"/>
                <a:sym typeface="TT Norms"/>
              </a:rPr>
              <a:t>3D-printed in impact-resistant materials with gasket seals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5507" y="8872364"/>
            <a:ext cx="2495424" cy="3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55">
                <a:solidFill>
                  <a:srgbClr val="F4723D"/>
                </a:solidFill>
                <a:latin typeface="TT Norms"/>
                <a:ea typeface="TT Norms"/>
                <a:cs typeface="TT Norms"/>
                <a:sym typeface="TT Norms"/>
              </a:rPr>
              <a:t>Handlebar Hub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9745" y="9263946"/>
            <a:ext cx="5071633" cy="75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55">
                <a:solidFill>
                  <a:srgbClr val="F8F4EE"/>
                </a:solidFill>
                <a:latin typeface="TT Norms"/>
                <a:ea typeface="TT Norms"/>
                <a:cs typeface="TT Norms"/>
                <a:sym typeface="TT Norms"/>
              </a:rPr>
              <a:t>features waterproof push button</a:t>
            </a:r>
          </a:p>
          <a:p>
            <a:pPr algn="l">
              <a:lnSpc>
                <a:spcPts val="3034"/>
              </a:lnSpc>
            </a:pPr>
            <a:r>
              <a:rPr lang="en-US" sz="2759" spc="-55">
                <a:solidFill>
                  <a:srgbClr val="F8F4EE"/>
                </a:solidFill>
                <a:latin typeface="TT Norms"/>
                <a:ea typeface="TT Norms"/>
                <a:cs typeface="TT Norms"/>
                <a:sym typeface="TT Norms"/>
              </a:rPr>
              <a:t>and RGB LED feedback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6488" y="0"/>
            <a:ext cx="9581512" cy="9860652"/>
          </a:xfrm>
          <a:custGeom>
            <a:avLst/>
            <a:gdLst/>
            <a:ahLst/>
            <a:cxnLst/>
            <a:rect r="r" b="b" t="t" l="l"/>
            <a:pathLst>
              <a:path h="9860652" w="9581512">
                <a:moveTo>
                  <a:pt x="0" y="0"/>
                </a:moveTo>
                <a:lnTo>
                  <a:pt x="9581512" y="0"/>
                </a:lnTo>
                <a:lnTo>
                  <a:pt x="9581512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1954" y="1038926"/>
            <a:ext cx="10245215" cy="219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9"/>
              </a:lnSpc>
            </a:pPr>
            <a:r>
              <a:rPr lang="en-US" sz="8519" spc="-253" b="true">
                <a:solidFill>
                  <a:srgbClr val="F4EDE4"/>
                </a:solidFill>
                <a:latin typeface="TT Norms Bold"/>
                <a:ea typeface="TT Norms Bold"/>
                <a:cs typeface="TT Norms Bold"/>
                <a:sym typeface="TT Norms Bold"/>
              </a:rPr>
              <a:t>Firmware &amp;</a:t>
            </a:r>
          </a:p>
          <a:p>
            <a:pPr algn="l">
              <a:lnSpc>
                <a:spcPts val="8519"/>
              </a:lnSpc>
            </a:pPr>
            <a:r>
              <a:rPr lang="en-US" sz="8519" spc="-253" b="true">
                <a:solidFill>
                  <a:srgbClr val="F4EDE4"/>
                </a:solidFill>
                <a:latin typeface="TT Norms Bold"/>
                <a:ea typeface="TT Norms Bold"/>
                <a:cs typeface="TT Norms Bold"/>
                <a:sym typeface="TT Norms Bold"/>
              </a:rPr>
              <a:t>Power Management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3421712"/>
            <a:ext cx="1531292" cy="229572"/>
          </a:xfrm>
          <a:custGeom>
            <a:avLst/>
            <a:gdLst/>
            <a:ahLst/>
            <a:cxnLst/>
            <a:rect r="r" b="b" t="t" l="l"/>
            <a:pathLst>
              <a:path h="229572" w="1531292">
                <a:moveTo>
                  <a:pt x="0" y="0"/>
                </a:moveTo>
                <a:lnTo>
                  <a:pt x="1531292" y="0"/>
                </a:lnTo>
                <a:lnTo>
                  <a:pt x="153129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60153" y="4054099"/>
            <a:ext cx="5783169" cy="8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>
                <a:solidFill>
                  <a:srgbClr val="E06F4B"/>
                </a:solidFill>
                <a:latin typeface="TT Norms"/>
                <a:ea typeface="TT Norms"/>
                <a:cs typeface="TT Norms"/>
                <a:sym typeface="TT Norms"/>
              </a:rPr>
              <a:t>NFC unlock</a:t>
            </a:r>
            <a:r>
              <a:rPr lang="en-US" sz="3032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 via Handlebar Nano, commands sent over UART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3626" y="5198723"/>
            <a:ext cx="5435808" cy="8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Rear </a:t>
            </a:r>
            <a:r>
              <a:rPr lang="en-US" sz="3032">
                <a:solidFill>
                  <a:srgbClr val="E06F4B"/>
                </a:solidFill>
                <a:latin typeface="TT Norms"/>
                <a:ea typeface="TT Norms"/>
                <a:cs typeface="TT Norms"/>
                <a:sym typeface="TT Norms"/>
              </a:rPr>
              <a:t>ESP32</a:t>
            </a:r>
            <a:r>
              <a:rPr lang="en-US" sz="3032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 manages the lock, alarm and system state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4949" y="6343347"/>
            <a:ext cx="5303574" cy="8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Deep sleep mode with </a:t>
            </a:r>
            <a:r>
              <a:rPr lang="en-US" sz="3032">
                <a:solidFill>
                  <a:srgbClr val="E06F4B"/>
                </a:solidFill>
                <a:latin typeface="TT Norms"/>
                <a:ea typeface="TT Norms"/>
                <a:cs typeface="TT Norms"/>
                <a:sym typeface="TT Norms"/>
              </a:rPr>
              <a:t>~10μA</a:t>
            </a:r>
            <a:r>
              <a:rPr lang="en-US" sz="3032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 sleep current when locked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221" y="7503032"/>
            <a:ext cx="5876325" cy="8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>
                <a:solidFill>
                  <a:srgbClr val="E06F4B"/>
                </a:solidFill>
                <a:latin typeface="TT Norms"/>
                <a:ea typeface="TT Norms"/>
                <a:cs typeface="TT Norms"/>
                <a:sym typeface="TT Norms"/>
              </a:rPr>
              <a:t>MPU6050 </a:t>
            </a:r>
            <a:r>
              <a:rPr lang="en-US" sz="3032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accelerometer wakes on tamper detection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3228" y="8677777"/>
            <a:ext cx="5475676" cy="8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Built for </a:t>
            </a:r>
            <a:r>
              <a:rPr lang="en-US" sz="3032">
                <a:solidFill>
                  <a:srgbClr val="E06F4B"/>
                </a:solidFill>
                <a:latin typeface="TT Norms"/>
                <a:ea typeface="TT Norms"/>
                <a:cs typeface="TT Norms"/>
                <a:sym typeface="TT Norms"/>
              </a:rPr>
              <a:t>months</a:t>
            </a:r>
            <a:r>
              <a:rPr lang="en-US" sz="3032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 of battery life</a:t>
            </a:r>
          </a:p>
          <a:p>
            <a:pPr algn="l">
              <a:lnSpc>
                <a:spcPts val="3639"/>
              </a:lnSpc>
            </a:pPr>
            <a:r>
              <a:rPr lang="en-US" sz="3032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on a single charge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0"/>
            <a:ext cx="8936182" cy="9652945"/>
          </a:xfrm>
          <a:custGeom>
            <a:avLst/>
            <a:gdLst/>
            <a:ahLst/>
            <a:cxnLst/>
            <a:rect r="r" b="b" t="t" l="l"/>
            <a:pathLst>
              <a:path h="9652945" w="8936182">
                <a:moveTo>
                  <a:pt x="0" y="0"/>
                </a:moveTo>
                <a:lnTo>
                  <a:pt x="8936182" y="0"/>
                </a:lnTo>
                <a:lnTo>
                  <a:pt x="8936182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6240" y="1189111"/>
            <a:ext cx="10064250" cy="225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8422" spc="-337" b="true">
                <a:solidFill>
                  <a:srgbClr val="F4EDE4"/>
                </a:solidFill>
                <a:latin typeface="TT Norms Bold"/>
                <a:ea typeface="TT Norms Bold"/>
                <a:cs typeface="TT Norms Bold"/>
                <a:sym typeface="TT Norms Bold"/>
              </a:rPr>
              <a:t>High-Current</a:t>
            </a:r>
          </a:p>
          <a:p>
            <a:pPr algn="l">
              <a:lnSpc>
                <a:spcPts val="8841"/>
              </a:lnSpc>
            </a:pPr>
            <a:r>
              <a:rPr lang="en-US" sz="8422" spc="-337" b="true">
                <a:solidFill>
                  <a:srgbClr val="F4EDE4"/>
                </a:solidFill>
                <a:latin typeface="TT Norms Bold"/>
                <a:ea typeface="TT Norms Bold"/>
                <a:cs typeface="TT Norms Bold"/>
                <a:sym typeface="TT Norms Bold"/>
              </a:rPr>
              <a:t>Safety Considerations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640352"/>
            <a:ext cx="1542230" cy="218640"/>
          </a:xfrm>
          <a:custGeom>
            <a:avLst/>
            <a:gdLst/>
            <a:ahLst/>
            <a:cxnLst/>
            <a:rect r="r" b="b" t="t" l="l"/>
            <a:pathLst>
              <a:path h="218640" w="1542230">
                <a:moveTo>
                  <a:pt x="0" y="0"/>
                </a:moveTo>
                <a:lnTo>
                  <a:pt x="1542230" y="0"/>
                </a:lnTo>
                <a:lnTo>
                  <a:pt x="154223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4309" y="4525049"/>
            <a:ext cx="8615205" cy="85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sz="3032" spc="-29">
                <a:solidFill>
                  <a:srgbClr val="E47B53"/>
                </a:solidFill>
                <a:latin typeface="TT Norms"/>
                <a:ea typeface="TT Norms"/>
                <a:cs typeface="TT Norms"/>
                <a:sym typeface="TT Norms"/>
              </a:rPr>
              <a:t>12V</a:t>
            </a:r>
            <a:r>
              <a:rPr lang="en-US" sz="3032" spc="-29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 motor can draw up to </a:t>
            </a:r>
            <a:r>
              <a:rPr lang="en-US" sz="3032" spc="-29">
                <a:solidFill>
                  <a:srgbClr val="E47B53"/>
                </a:solidFill>
                <a:latin typeface="TT Norms"/>
                <a:ea typeface="TT Norms"/>
                <a:cs typeface="TT Norms"/>
                <a:sym typeface="TT Norms"/>
              </a:rPr>
              <a:t>2A stall current</a:t>
            </a:r>
            <a:r>
              <a:rPr lang="en-US" sz="3032" spc="-29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 requires robust PCB routing (4.0mm trace width)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7755" y="5805221"/>
            <a:ext cx="7270572" cy="85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sz="3032" spc="-29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Use only </a:t>
            </a:r>
            <a:r>
              <a:rPr lang="en-US" sz="3032" spc="-29">
                <a:solidFill>
                  <a:srgbClr val="E47B53"/>
                </a:solidFill>
                <a:latin typeface="TT Norms"/>
                <a:ea typeface="TT Norms"/>
                <a:cs typeface="TT Norms"/>
                <a:sym typeface="TT Norms"/>
              </a:rPr>
              <a:t>protected 3S 18650</a:t>
            </a:r>
            <a:r>
              <a:rPr lang="en-US" sz="3032" spc="-29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 battery packs</a:t>
            </a:r>
          </a:p>
          <a:p>
            <a:pPr algn="l">
              <a:lnSpc>
                <a:spcPts val="3488"/>
              </a:lnSpc>
            </a:pPr>
            <a:r>
              <a:rPr lang="en-US" sz="3032" spc="-29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with BMS charging 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4160" y="7076061"/>
            <a:ext cx="5630096" cy="86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970" spc="-29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Avoid unbalanced or </a:t>
            </a:r>
            <a:r>
              <a:rPr lang="en-US" sz="2970" spc="-29">
                <a:solidFill>
                  <a:srgbClr val="E47B53"/>
                </a:solidFill>
                <a:latin typeface="TT Norms"/>
                <a:ea typeface="TT Norms"/>
                <a:cs typeface="TT Norms"/>
                <a:sym typeface="TT Norms"/>
              </a:rPr>
              <a:t>unprotected</a:t>
            </a:r>
          </a:p>
          <a:p>
            <a:pPr algn="l">
              <a:lnSpc>
                <a:spcPts val="3417"/>
              </a:lnSpc>
            </a:pPr>
            <a:r>
              <a:rPr lang="en-US" sz="2970" spc="-29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battery configurations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0252" y="8275199"/>
            <a:ext cx="7020941" cy="85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sz="3032" spc="-29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Ensure </a:t>
            </a:r>
            <a:r>
              <a:rPr lang="en-US" sz="3032" spc="-29">
                <a:solidFill>
                  <a:srgbClr val="E47B53"/>
                </a:solidFill>
                <a:latin typeface="TT Norms"/>
                <a:ea typeface="TT Norms"/>
                <a:cs typeface="TT Norms"/>
                <a:sym typeface="TT Norms"/>
              </a:rPr>
              <a:t>proper wiring and mechanical</a:t>
            </a:r>
          </a:p>
          <a:p>
            <a:pPr algn="l">
              <a:lnSpc>
                <a:spcPts val="3488"/>
              </a:lnSpc>
            </a:pPr>
            <a:r>
              <a:rPr lang="en-US" sz="3032" spc="-29">
                <a:solidFill>
                  <a:srgbClr val="F4EDE4"/>
                </a:solidFill>
                <a:latin typeface="TT Norms"/>
                <a:ea typeface="TT Norms"/>
                <a:cs typeface="TT Norms"/>
                <a:sym typeface="TT Norms"/>
              </a:rPr>
              <a:t>assembly to prevent shorts or overcurrent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5244" y="0"/>
            <a:ext cx="9362756" cy="10287000"/>
          </a:xfrm>
          <a:custGeom>
            <a:avLst/>
            <a:gdLst/>
            <a:ahLst/>
            <a:cxnLst/>
            <a:rect r="r" b="b" t="t" l="l"/>
            <a:pathLst>
              <a:path h="10287000" w="9362756">
                <a:moveTo>
                  <a:pt x="0" y="0"/>
                </a:moveTo>
                <a:lnTo>
                  <a:pt x="9362756" y="0"/>
                </a:lnTo>
                <a:lnTo>
                  <a:pt x="9362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9935" y="1509912"/>
            <a:ext cx="7126054" cy="249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6"/>
              </a:lnSpc>
            </a:pPr>
            <a:r>
              <a:rPr lang="en-US" sz="9636" spc="-385" b="true">
                <a:solidFill>
                  <a:srgbClr val="F8F1E8"/>
                </a:solidFill>
                <a:latin typeface="TT Norms Bold"/>
                <a:ea typeface="TT Norms Bold"/>
                <a:cs typeface="TT Norms Bold"/>
                <a:sym typeface="TT Norms Bold"/>
              </a:rPr>
              <a:t>Thank You &amp; Next Steps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4285339"/>
            <a:ext cx="1750048" cy="218640"/>
          </a:xfrm>
          <a:custGeom>
            <a:avLst/>
            <a:gdLst/>
            <a:ahLst/>
            <a:cxnLst/>
            <a:rect r="r" b="b" t="t" l="l"/>
            <a:pathLst>
              <a:path h="218640" w="1750048">
                <a:moveTo>
                  <a:pt x="0" y="0"/>
                </a:moveTo>
                <a:lnTo>
                  <a:pt x="1750048" y="0"/>
                </a:lnTo>
                <a:lnTo>
                  <a:pt x="1750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5989" y="5019381"/>
            <a:ext cx="4520651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8F1E8"/>
                </a:solidFill>
                <a:latin typeface="TT Norms"/>
                <a:ea typeface="TT Norms"/>
                <a:cs typeface="TT Norms"/>
                <a:sym typeface="TT Norms"/>
              </a:rPr>
              <a:t>Thanks for exploring </a:t>
            </a:r>
            <a:r>
              <a:rPr lang="en-US" sz="2896" spc="-57">
                <a:solidFill>
                  <a:srgbClr val="F0754B"/>
                </a:solidFill>
                <a:latin typeface="TT Norms"/>
                <a:ea typeface="TT Norms"/>
                <a:cs typeface="TT Norms"/>
                <a:sym typeface="TT Norms"/>
              </a:rPr>
              <a:t>Aegis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4397" y="5787484"/>
            <a:ext cx="5679833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8F1E8"/>
                </a:solidFill>
                <a:latin typeface="TT Norms"/>
                <a:ea typeface="TT Norms"/>
                <a:cs typeface="TT Norms"/>
                <a:sym typeface="TT Norms"/>
              </a:rPr>
              <a:t>Manufacturing files and assembly instructions </a:t>
            </a:r>
            <a:r>
              <a:rPr lang="en-US" sz="2896" spc="-57">
                <a:solidFill>
                  <a:srgbClr val="F0754B"/>
                </a:solidFill>
                <a:latin typeface="TT Norms"/>
                <a:ea typeface="TT Norms"/>
                <a:cs typeface="TT Norms"/>
                <a:sym typeface="TT Norms"/>
              </a:rPr>
              <a:t>coming soon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521" y="7052594"/>
            <a:ext cx="6067393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8F1E8"/>
                </a:solidFill>
                <a:latin typeface="TT Norms"/>
                <a:ea typeface="TT Norms"/>
                <a:cs typeface="TT Norms"/>
                <a:sym typeface="TT Norms"/>
              </a:rPr>
              <a:t>Visit the </a:t>
            </a:r>
            <a:r>
              <a:rPr lang="en-US" sz="2896" spc="-57">
                <a:solidFill>
                  <a:srgbClr val="F0754B"/>
                </a:solidFill>
                <a:latin typeface="TT Norms"/>
                <a:ea typeface="TT Norms"/>
                <a:cs typeface="TT Norms"/>
                <a:sym typeface="TT Norms"/>
              </a:rPr>
              <a:t>project website</a:t>
            </a:r>
            <a:r>
              <a:rPr lang="en-US" sz="2896" spc="-57">
                <a:solidFill>
                  <a:srgbClr val="F8F1E8"/>
                </a:solidFill>
                <a:latin typeface="TT Norms"/>
                <a:ea typeface="TT Norms"/>
                <a:cs typeface="TT Norms"/>
                <a:sym typeface="TT Norms"/>
              </a:rPr>
              <a:t> for updates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5160" y="7865879"/>
            <a:ext cx="5603502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8F1E8"/>
                </a:solidFill>
                <a:latin typeface="TT Norms"/>
                <a:ea typeface="TT Norms"/>
                <a:cs typeface="TT Norms"/>
                <a:sym typeface="TT Norms"/>
              </a:rPr>
              <a:t>Join the open-source community</a:t>
            </a:r>
          </a:p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8F1E8"/>
                </a:solidFill>
                <a:latin typeface="TT Norms"/>
                <a:ea typeface="TT Norms"/>
                <a:cs typeface="TT Norms"/>
                <a:sym typeface="TT Norms"/>
              </a:rPr>
              <a:t>or </a:t>
            </a:r>
            <a:r>
              <a:rPr lang="en-US" sz="2896" spc="-57">
                <a:solidFill>
                  <a:srgbClr val="F0754B"/>
                </a:solidFill>
                <a:latin typeface="TT Norms"/>
                <a:ea typeface="TT Norms"/>
                <a:cs typeface="TT Norms"/>
                <a:sym typeface="TT Norms"/>
              </a:rPr>
              <a:t>contribute</a:t>
            </a:r>
            <a:r>
              <a:rPr lang="en-US" sz="2896" spc="-57">
                <a:solidFill>
                  <a:srgbClr val="F8F1E8"/>
                </a:solidFill>
                <a:latin typeface="TT Norms"/>
                <a:ea typeface="TT Norms"/>
                <a:cs typeface="TT Norms"/>
                <a:sym typeface="TT Norms"/>
              </a:rPr>
              <a:t> to the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DAHY1IhCFQc</dc:identifier>
  <dcterms:modified xsi:type="dcterms:W3CDTF">2011-08-01T06:04:30Z</dcterms:modified>
  <cp:revision>1</cp:revision>
  <dc:title>Aegis Smart Bike Lock</dc:title>
</cp:coreProperties>
</file>